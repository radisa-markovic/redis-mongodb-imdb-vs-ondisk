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FB33-2376-1892-9A6E-ABCF83798A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57F43C-C62E-A064-21F1-62D9A8A286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835A7C-477A-DB80-CD0F-72C7C0FC8A12}"/>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5" name="Footer Placeholder 4">
            <a:extLst>
              <a:ext uri="{FF2B5EF4-FFF2-40B4-BE49-F238E27FC236}">
                <a16:creationId xmlns:a16="http://schemas.microsoft.com/office/drawing/2014/main" id="{693AFA3F-FF33-740B-B841-AAB5D74ED7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1DFA7-3BC8-499A-C18F-8430BF6A4521}"/>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1377909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DD036-6712-E526-3B9E-284E3DF3AA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43BA85-BDCF-264A-8334-3EB84C95CC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35E014-6F5F-5E23-D629-69E08D3CEC86}"/>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5" name="Footer Placeholder 4">
            <a:extLst>
              <a:ext uri="{FF2B5EF4-FFF2-40B4-BE49-F238E27FC236}">
                <a16:creationId xmlns:a16="http://schemas.microsoft.com/office/drawing/2014/main" id="{7F27FF8E-641C-0962-329E-BE176C1E48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AD9AF-1959-6D94-2240-8360B81989E4}"/>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264292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23A23-5DCE-35BB-E15A-D605D52945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EFE55-501D-5B7A-0E16-016A2EA580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957F43-2FD8-35C6-ED4B-AC6399FE1BFA}"/>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5" name="Footer Placeholder 4">
            <a:extLst>
              <a:ext uri="{FF2B5EF4-FFF2-40B4-BE49-F238E27FC236}">
                <a16:creationId xmlns:a16="http://schemas.microsoft.com/office/drawing/2014/main" id="{6FACF4F7-1095-02AC-9686-F028E1E205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229693-17A2-3A64-9741-81C7FBDD62EC}"/>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2703294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5FBAB-CF21-AFF3-110B-B0DC401CD8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71754E-2E5F-95B3-F5F2-9FB2BCE1C8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35C611-74FF-EA76-3E57-457619B44C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441159-4E7B-7693-6789-7A277ADF07CF}"/>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6" name="Footer Placeholder 5">
            <a:extLst>
              <a:ext uri="{FF2B5EF4-FFF2-40B4-BE49-F238E27FC236}">
                <a16:creationId xmlns:a16="http://schemas.microsoft.com/office/drawing/2014/main" id="{E5966800-DFFF-3FE9-19DE-D0867F714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38CA3C-00FC-8B52-354A-4A6FC5129406}"/>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2625904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2B6FC-A7B7-8624-BEF2-B578B012E6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CC8246-3D1B-86C3-F4BD-1D681B750C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D7BFBB-D65D-5EF7-49D3-B1065FDCF7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57C1A4-1211-EA1A-A149-E7F660870D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337B8C-D788-2707-2A7E-F494D0C5C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3F9941-8CF7-358F-CCB8-2CE71691347C}"/>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8" name="Footer Placeholder 7">
            <a:extLst>
              <a:ext uri="{FF2B5EF4-FFF2-40B4-BE49-F238E27FC236}">
                <a16:creationId xmlns:a16="http://schemas.microsoft.com/office/drawing/2014/main" id="{1EE8D0B2-43FB-22F9-5723-3FDE8B0C13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E1C682-129D-94C4-D7EB-B3C77F6AD36E}"/>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3559345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FC51-6705-BC46-F05F-770346FCFD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7B2CD5-86E8-2591-49BF-2CCE99F83C69}"/>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4" name="Footer Placeholder 3">
            <a:extLst>
              <a:ext uri="{FF2B5EF4-FFF2-40B4-BE49-F238E27FC236}">
                <a16:creationId xmlns:a16="http://schemas.microsoft.com/office/drawing/2014/main" id="{BDDCC512-87EB-001B-55CD-C7920F5234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83D676-29F1-CDC9-3406-AFD5EFB76594}"/>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1411464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58EA4-184F-EF04-30D4-1AFCDDB83493}"/>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3" name="Footer Placeholder 2">
            <a:extLst>
              <a:ext uri="{FF2B5EF4-FFF2-40B4-BE49-F238E27FC236}">
                <a16:creationId xmlns:a16="http://schemas.microsoft.com/office/drawing/2014/main" id="{4D763044-8040-A762-4690-8A1C1C4612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319561-A15A-68D9-6F19-244094DAF54E}"/>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2762071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D22E-FFCB-562F-01F8-4872C99BF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1B0B94-2622-C56C-F963-DCFF2EFB4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D068D5-74C8-687F-D6A4-55FE401EA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5BD91-1502-72A2-F0AE-2F5B92636235}"/>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6" name="Footer Placeholder 5">
            <a:extLst>
              <a:ext uri="{FF2B5EF4-FFF2-40B4-BE49-F238E27FC236}">
                <a16:creationId xmlns:a16="http://schemas.microsoft.com/office/drawing/2014/main" id="{C5F9D34B-FC38-B8C4-63B5-EE601F318B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202EF2-6B63-CED7-C918-5168E631B465}"/>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209532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582E-8E8C-91E2-42F0-BC45535A59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6AC4CC-D551-FFA1-929B-D8CC8992EB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049D5F-F39D-DD48-8956-F099108A87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119959-17E5-403B-BAF1-5255DBE0816D}"/>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6" name="Footer Placeholder 5">
            <a:extLst>
              <a:ext uri="{FF2B5EF4-FFF2-40B4-BE49-F238E27FC236}">
                <a16:creationId xmlns:a16="http://schemas.microsoft.com/office/drawing/2014/main" id="{6140C723-7088-BDFB-A3BD-FABF2BE1EA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AF2D02-52A3-F08B-C08C-F3817B961250}"/>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1417928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074C-D8CC-000C-3B29-561189AB6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764040-56B6-4079-BF35-5E36971535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025BF2-E492-E4FC-C5E0-19B2EAE1A24A}"/>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5" name="Footer Placeholder 4">
            <a:extLst>
              <a:ext uri="{FF2B5EF4-FFF2-40B4-BE49-F238E27FC236}">
                <a16:creationId xmlns:a16="http://schemas.microsoft.com/office/drawing/2014/main" id="{D018A1A1-7A26-AB3C-4E5F-FEFF5E507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30DFA-3999-E2F6-5592-FBC2620E390A}"/>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3211789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44F769-73E5-3DBA-9FEB-97716F2D37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543163-A9C5-C8DB-F666-3A9BCA62FA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008ECA-EA48-2226-D091-A1907E13BC46}"/>
              </a:ext>
            </a:extLst>
          </p:cNvPr>
          <p:cNvSpPr>
            <a:spLocks noGrp="1"/>
          </p:cNvSpPr>
          <p:nvPr>
            <p:ph type="dt" sz="half" idx="10"/>
          </p:nvPr>
        </p:nvSpPr>
        <p:spPr/>
        <p:txBody>
          <a:bodyPr/>
          <a:lstStyle/>
          <a:p>
            <a:fld id="{8E65598A-7B5B-4941-B56A-61930BC81C02}" type="datetimeFigureOut">
              <a:rPr lang="en-US" smtClean="0"/>
              <a:t>12-May-26</a:t>
            </a:fld>
            <a:endParaRPr lang="en-US"/>
          </a:p>
        </p:txBody>
      </p:sp>
      <p:sp>
        <p:nvSpPr>
          <p:cNvPr id="5" name="Footer Placeholder 4">
            <a:extLst>
              <a:ext uri="{FF2B5EF4-FFF2-40B4-BE49-F238E27FC236}">
                <a16:creationId xmlns:a16="http://schemas.microsoft.com/office/drawing/2014/main" id="{D7188431-BF22-0F87-D5F7-E9E57CF108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AB6E92-7A69-5595-1AF7-70F93F0FF298}"/>
              </a:ext>
            </a:extLst>
          </p:cNvPr>
          <p:cNvSpPr>
            <a:spLocks noGrp="1"/>
          </p:cNvSpPr>
          <p:nvPr>
            <p:ph type="sldNum" sz="quarter" idx="12"/>
          </p:nvPr>
        </p:nvSpPr>
        <p:spPr/>
        <p:txBody>
          <a:bodyPr/>
          <a:lstStyle/>
          <a:p>
            <a:fld id="{8CE7B0A2-F37D-489B-88E3-FDF98A384E3D}" type="slidenum">
              <a:rPr lang="en-US" smtClean="0"/>
              <a:t>‹#›</a:t>
            </a:fld>
            <a:endParaRPr lang="en-US"/>
          </a:p>
        </p:txBody>
      </p:sp>
    </p:spTree>
    <p:extLst>
      <p:ext uri="{BB962C8B-B14F-4D97-AF65-F5344CB8AC3E}">
        <p14:creationId xmlns:p14="http://schemas.microsoft.com/office/powerpoint/2010/main" val="1727510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978293-0CAF-33AC-C943-31C5A287CE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173C51-890F-5D17-B8B8-023C49966A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C8117A-EF0C-968A-F205-6F2E1450F2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65598A-7B5B-4941-B56A-61930BC81C02}" type="datetimeFigureOut">
              <a:rPr lang="en-US" smtClean="0"/>
              <a:t>12-May-26</a:t>
            </a:fld>
            <a:endParaRPr lang="en-US"/>
          </a:p>
        </p:txBody>
      </p:sp>
      <p:sp>
        <p:nvSpPr>
          <p:cNvPr id="5" name="Footer Placeholder 4">
            <a:extLst>
              <a:ext uri="{FF2B5EF4-FFF2-40B4-BE49-F238E27FC236}">
                <a16:creationId xmlns:a16="http://schemas.microsoft.com/office/drawing/2014/main" id="{FD683235-7E3F-E098-AF9C-1C3BA8F93D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27A797-B106-C43F-B3DD-DD843FDC0B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E7B0A2-F37D-489B-88E3-FDF98A384E3D}" type="slidenum">
              <a:rPr lang="en-US" smtClean="0"/>
              <a:t>‹#›</a:t>
            </a:fld>
            <a:endParaRPr lang="en-US"/>
          </a:p>
        </p:txBody>
      </p:sp>
    </p:spTree>
    <p:extLst>
      <p:ext uri="{BB962C8B-B14F-4D97-AF65-F5344CB8AC3E}">
        <p14:creationId xmlns:p14="http://schemas.microsoft.com/office/powerpoint/2010/main" val="2440375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AEF0A-0474-ACA5-8426-E57CAF44BE67}"/>
              </a:ext>
            </a:extLst>
          </p:cNvPr>
          <p:cNvSpPr>
            <a:spLocks noGrp="1"/>
          </p:cNvSpPr>
          <p:nvPr>
            <p:ph type="ctrTitle"/>
          </p:nvPr>
        </p:nvSpPr>
        <p:spPr/>
        <p:txBody>
          <a:bodyPr/>
          <a:lstStyle/>
          <a:p>
            <a:r>
              <a:rPr lang="sr-Latn-RS" dirty="0"/>
              <a:t>On memory i disk baze podazaka, Redis i MongoDB</a:t>
            </a:r>
            <a:endParaRPr lang="en-US" dirty="0"/>
          </a:p>
        </p:txBody>
      </p:sp>
      <p:sp>
        <p:nvSpPr>
          <p:cNvPr id="3" name="Subtitle 2">
            <a:extLst>
              <a:ext uri="{FF2B5EF4-FFF2-40B4-BE49-F238E27FC236}">
                <a16:creationId xmlns:a16="http://schemas.microsoft.com/office/drawing/2014/main" id="{FF216A55-84CF-E674-0897-E3D9864F4FF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12400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3C12-EDAA-7DA5-1647-7034DBCED6B4}"/>
              </a:ext>
            </a:extLst>
          </p:cNvPr>
          <p:cNvSpPr>
            <a:spLocks noGrp="1"/>
          </p:cNvSpPr>
          <p:nvPr>
            <p:ph type="title"/>
          </p:nvPr>
        </p:nvSpPr>
        <p:spPr/>
        <p:txBody>
          <a:bodyPr/>
          <a:lstStyle/>
          <a:p>
            <a:r>
              <a:rPr lang="sr-Latn-RS" dirty="0"/>
              <a:t>In memory baze podataka</a:t>
            </a:r>
            <a:endParaRPr lang="en-US" dirty="0"/>
          </a:p>
        </p:txBody>
      </p:sp>
      <p:sp>
        <p:nvSpPr>
          <p:cNvPr id="3" name="Content Placeholder 2">
            <a:extLst>
              <a:ext uri="{FF2B5EF4-FFF2-40B4-BE49-F238E27FC236}">
                <a16:creationId xmlns:a16="http://schemas.microsoft.com/office/drawing/2014/main" id="{6ADD92A7-1666-0F41-6C24-02C3BDDDD8D2}"/>
              </a:ext>
            </a:extLst>
          </p:cNvPr>
          <p:cNvSpPr>
            <a:spLocks noGrp="1"/>
          </p:cNvSpPr>
          <p:nvPr>
            <p:ph idx="1"/>
          </p:nvPr>
        </p:nvSpPr>
        <p:spPr>
          <a:xfrm>
            <a:off x="838200" y="1607127"/>
            <a:ext cx="6504708" cy="4311218"/>
          </a:xfrm>
        </p:spPr>
        <p:txBody>
          <a:bodyPr>
            <a:normAutofit fontScale="77500" lnSpcReduction="20000"/>
          </a:bodyPr>
          <a:lstStyle/>
          <a:p>
            <a:r>
              <a:rPr lang="sr-Latn-RS" dirty="0"/>
              <a:t>Negde se skraćuju sa IMDB.</a:t>
            </a:r>
          </a:p>
          <a:p>
            <a:r>
              <a:rPr lang="sr-Latn-RS" dirty="0"/>
              <a:t>To su baze podataka koje svoje podatke čuvaju u radnoj memoriji, odnosno RAM-u.</a:t>
            </a:r>
          </a:p>
          <a:p>
            <a:r>
              <a:rPr lang="sr-Latn-RS" dirty="0"/>
              <a:t>Budući da je RAM memorija brža od disk baza, rad sa ovim bazama je dosta brži.</a:t>
            </a:r>
          </a:p>
          <a:p>
            <a:r>
              <a:rPr lang="sr-Latn-RS" dirty="0"/>
              <a:t>Sa druge strane, mana je što je RAM nestalna, odnosno volatile memorija, što znači da prekid u radu izaziva gubitak onoga što je bilo u memoriji.</a:t>
            </a:r>
          </a:p>
          <a:p>
            <a:r>
              <a:rPr lang="sr-Latn-RS" dirty="0"/>
              <a:t>Takođe RAM je veće cene i manjeg kapaciteta nego disk, pa postoji ograničenje i u tom polju.</a:t>
            </a:r>
          </a:p>
          <a:p>
            <a:r>
              <a:rPr lang="sr-Latn-RS" dirty="0"/>
              <a:t>Zbog toga se ove baze uglavnom koriste kao keš baze, jer je brže čitati iz njih nego sa diska.</a:t>
            </a:r>
          </a:p>
          <a:p>
            <a:r>
              <a:rPr lang="sr-Latn-RS" dirty="0"/>
              <a:t>Neke od in memory baze podataka su Redis, Memcached, VoltDB i ostale.</a:t>
            </a:r>
          </a:p>
          <a:p>
            <a:endParaRPr lang="en-US" dirty="0"/>
          </a:p>
        </p:txBody>
      </p:sp>
      <p:pic>
        <p:nvPicPr>
          <p:cNvPr id="5" name="Picture 4">
            <a:extLst>
              <a:ext uri="{FF2B5EF4-FFF2-40B4-BE49-F238E27FC236}">
                <a16:creationId xmlns:a16="http://schemas.microsoft.com/office/drawing/2014/main" id="{76B01EE7-A135-8EAA-88D6-7CE1E9D2D5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0763" y="1607127"/>
            <a:ext cx="4161839" cy="2105891"/>
          </a:xfrm>
          <a:prstGeom prst="rect">
            <a:avLst/>
          </a:prstGeom>
        </p:spPr>
      </p:pic>
    </p:spTree>
    <p:extLst>
      <p:ext uri="{BB962C8B-B14F-4D97-AF65-F5344CB8AC3E}">
        <p14:creationId xmlns:p14="http://schemas.microsoft.com/office/powerpoint/2010/main" val="3558086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BBA6-772D-7AE7-2B06-6E1CBB26BE0F}"/>
              </a:ext>
            </a:extLst>
          </p:cNvPr>
          <p:cNvSpPr>
            <a:spLocks noGrp="1"/>
          </p:cNvSpPr>
          <p:nvPr>
            <p:ph type="title"/>
          </p:nvPr>
        </p:nvSpPr>
        <p:spPr/>
        <p:txBody>
          <a:bodyPr/>
          <a:lstStyle/>
          <a:p>
            <a:r>
              <a:rPr lang="sr-Latn-RS" dirty="0"/>
              <a:t>Redis</a:t>
            </a:r>
            <a:endParaRPr lang="en-US" dirty="0"/>
          </a:p>
        </p:txBody>
      </p:sp>
      <p:sp>
        <p:nvSpPr>
          <p:cNvPr id="3" name="Content Placeholder 2">
            <a:extLst>
              <a:ext uri="{FF2B5EF4-FFF2-40B4-BE49-F238E27FC236}">
                <a16:creationId xmlns:a16="http://schemas.microsoft.com/office/drawing/2014/main" id="{0B83502B-08F8-F12A-BDA6-20900E25BDE8}"/>
              </a:ext>
            </a:extLst>
          </p:cNvPr>
          <p:cNvSpPr>
            <a:spLocks noGrp="1"/>
          </p:cNvSpPr>
          <p:nvPr>
            <p:ph idx="1"/>
          </p:nvPr>
        </p:nvSpPr>
        <p:spPr>
          <a:xfrm>
            <a:off x="838200" y="1825625"/>
            <a:ext cx="7317509" cy="4351338"/>
          </a:xfrm>
        </p:spPr>
        <p:txBody>
          <a:bodyPr/>
          <a:lstStyle/>
          <a:p>
            <a:r>
              <a:rPr lang="sr-Latn-RS" dirty="0"/>
              <a:t>Skraćenica od </a:t>
            </a:r>
            <a:r>
              <a:rPr lang="sr-Latn-RS" b="1" dirty="0"/>
              <a:t>Re</a:t>
            </a:r>
            <a:r>
              <a:rPr lang="sr-Latn-RS" dirty="0"/>
              <a:t>mote </a:t>
            </a:r>
            <a:r>
              <a:rPr lang="sr-Latn-RS" b="1" dirty="0"/>
              <a:t>di</a:t>
            </a:r>
            <a:r>
              <a:rPr lang="sr-Latn-RS" dirty="0"/>
              <a:t>ctionary </a:t>
            </a:r>
            <a:r>
              <a:rPr lang="sr-Latn-RS" b="1" dirty="0"/>
              <a:t>s</a:t>
            </a:r>
            <a:r>
              <a:rPr lang="sr-Latn-RS" dirty="0"/>
              <a:t>ervice.</a:t>
            </a:r>
          </a:p>
          <a:p>
            <a:r>
              <a:rPr lang="sr-Latn-RS" dirty="0"/>
              <a:t>Open-source sistem za skladištenje struktura podataka u memoriji koji se može koristiti kao baza podataka, keš, posrednik za poruke i sistem za obradu tokova podataka.</a:t>
            </a:r>
          </a:p>
          <a:p>
            <a:r>
              <a:rPr lang="sr-Latn-RS" dirty="0"/>
              <a:t>Pripada grupi NoSQL baza poznatih kao key/value sistemi, gde jedinstveni ključevi odgovaraju vrednostima različitih tipova podataka.</a:t>
            </a:r>
            <a:endParaRPr lang="en-US" dirty="0"/>
          </a:p>
        </p:txBody>
      </p:sp>
      <p:pic>
        <p:nvPicPr>
          <p:cNvPr id="5" name="Picture 4">
            <a:extLst>
              <a:ext uri="{FF2B5EF4-FFF2-40B4-BE49-F238E27FC236}">
                <a16:creationId xmlns:a16="http://schemas.microsoft.com/office/drawing/2014/main" id="{433E05DD-2FF1-962E-17F1-5D1C79E61A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9590" y="880843"/>
            <a:ext cx="3210119" cy="3210119"/>
          </a:xfrm>
          <a:prstGeom prst="rect">
            <a:avLst/>
          </a:prstGeom>
        </p:spPr>
      </p:pic>
    </p:spTree>
    <p:extLst>
      <p:ext uri="{BB962C8B-B14F-4D97-AF65-F5344CB8AC3E}">
        <p14:creationId xmlns:p14="http://schemas.microsoft.com/office/powerpoint/2010/main" val="385392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B97F-609D-C47B-DAE9-288632A5EF4A}"/>
              </a:ext>
            </a:extLst>
          </p:cNvPr>
          <p:cNvSpPr>
            <a:spLocks noGrp="1"/>
          </p:cNvSpPr>
          <p:nvPr>
            <p:ph type="title"/>
          </p:nvPr>
        </p:nvSpPr>
        <p:spPr/>
        <p:txBody>
          <a:bodyPr/>
          <a:lstStyle/>
          <a:p>
            <a:r>
              <a:rPr lang="sr-Latn-RS" dirty="0"/>
              <a:t>Šta to Redis radi drugačije?</a:t>
            </a:r>
            <a:endParaRPr lang="en-US" dirty="0"/>
          </a:p>
        </p:txBody>
      </p:sp>
      <p:sp>
        <p:nvSpPr>
          <p:cNvPr id="3" name="Content Placeholder 2">
            <a:extLst>
              <a:ext uri="{FF2B5EF4-FFF2-40B4-BE49-F238E27FC236}">
                <a16:creationId xmlns:a16="http://schemas.microsoft.com/office/drawing/2014/main" id="{A17A14AF-8CC9-9A29-1050-079C0225964B}"/>
              </a:ext>
            </a:extLst>
          </p:cNvPr>
          <p:cNvSpPr>
            <a:spLocks noGrp="1"/>
          </p:cNvSpPr>
          <p:nvPr>
            <p:ph idx="1"/>
          </p:nvPr>
        </p:nvSpPr>
        <p:spPr>
          <a:xfrm>
            <a:off x="738592" y="1493240"/>
            <a:ext cx="6437382" cy="4904334"/>
          </a:xfrm>
        </p:spPr>
        <p:txBody>
          <a:bodyPr>
            <a:normAutofit fontScale="77500" lnSpcReduction="20000"/>
          </a:bodyPr>
          <a:lstStyle/>
          <a:p>
            <a:r>
              <a:rPr lang="sr-Latn-RS" dirty="0"/>
              <a:t>Za razliku od ostalih key/value baza, Redis ima nekoliko različitih tipova podataka, poput skupa, sortiranog skupa, listi, heševa i ostalih.</a:t>
            </a:r>
          </a:p>
          <a:p>
            <a:r>
              <a:rPr lang="sr-Latn-RS" dirty="0"/>
              <a:t>Jedna Redis instanca može da podrži preko 100 hiljada operacija u sekundi na osrednjem hardveru.</a:t>
            </a:r>
          </a:p>
          <a:p>
            <a:r>
              <a:rPr lang="sr-Latn-RS" dirty="0"/>
              <a:t>Takođe je ekonomičan. Prazna instanca Redisa zauzima 3 MB, milion malih ključeva sa string vrednostima zauzima 85 MB memorije, dok milion složenijih heševa sa po 5 vrednosti pod jednim ključem zauzima 160 MB memorije.</a:t>
            </a:r>
          </a:p>
          <a:p>
            <a:r>
              <a:rPr lang="sr-Latn-RS" dirty="0"/>
              <a:t>Ima i sistem pub/sub za slanje velike količine podataka zainteresovanim stranama.</a:t>
            </a:r>
          </a:p>
          <a:p>
            <a:r>
              <a:rPr lang="sr-Latn-RS" dirty="0"/>
              <a:t>Ima i sistem perzistencije na disku, koji služi za očuvanje podataka i potencijalni oporavak od katastrofalnih okolnosti .</a:t>
            </a:r>
            <a:endParaRPr lang="en-US" dirty="0"/>
          </a:p>
        </p:txBody>
      </p:sp>
      <p:pic>
        <p:nvPicPr>
          <p:cNvPr id="5" name="Picture 4">
            <a:extLst>
              <a:ext uri="{FF2B5EF4-FFF2-40B4-BE49-F238E27FC236}">
                <a16:creationId xmlns:a16="http://schemas.microsoft.com/office/drawing/2014/main" id="{D1EC144C-AA06-A46E-3434-A63C7A55DC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7983" y="659423"/>
            <a:ext cx="4340984" cy="4418501"/>
          </a:xfrm>
          <a:prstGeom prst="rect">
            <a:avLst/>
          </a:prstGeom>
        </p:spPr>
      </p:pic>
    </p:spTree>
    <p:extLst>
      <p:ext uri="{BB962C8B-B14F-4D97-AF65-F5344CB8AC3E}">
        <p14:creationId xmlns:p14="http://schemas.microsoft.com/office/powerpoint/2010/main" val="3274405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5576C-28C9-EEA5-F6BE-5E16016D7791}"/>
              </a:ext>
            </a:extLst>
          </p:cNvPr>
          <p:cNvSpPr>
            <a:spLocks noGrp="1"/>
          </p:cNvSpPr>
          <p:nvPr>
            <p:ph type="title"/>
          </p:nvPr>
        </p:nvSpPr>
        <p:spPr/>
        <p:txBody>
          <a:bodyPr/>
          <a:lstStyle/>
          <a:p>
            <a:pPr algn="ctr"/>
            <a:r>
              <a:rPr lang="sr-Latn-RS" dirty="0"/>
              <a:t>Neki tipovi podataka</a:t>
            </a:r>
            <a:endParaRPr lang="en-US" dirty="0"/>
          </a:p>
        </p:txBody>
      </p:sp>
      <p:pic>
        <p:nvPicPr>
          <p:cNvPr id="5" name="Content Placeholder 4">
            <a:extLst>
              <a:ext uri="{FF2B5EF4-FFF2-40B4-BE49-F238E27FC236}">
                <a16:creationId xmlns:a16="http://schemas.microsoft.com/office/drawing/2014/main" id="{5129ED0A-2E26-3948-25AC-3000C98BE0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078516"/>
            <a:ext cx="5148925" cy="2756904"/>
          </a:xfrm>
          <a:prstGeom prst="rect">
            <a:avLst/>
          </a:prstGeom>
        </p:spPr>
      </p:pic>
      <p:pic>
        <p:nvPicPr>
          <p:cNvPr id="7" name="Picture 6">
            <a:extLst>
              <a:ext uri="{FF2B5EF4-FFF2-40B4-BE49-F238E27FC236}">
                <a16:creationId xmlns:a16="http://schemas.microsoft.com/office/drawing/2014/main" id="{2F83EFDE-7675-E54D-2716-DE6370F2B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452" y="2149979"/>
            <a:ext cx="4959010" cy="2558042"/>
          </a:xfrm>
          <a:prstGeom prst="rect">
            <a:avLst/>
          </a:prstGeom>
        </p:spPr>
      </p:pic>
      <p:sp>
        <p:nvSpPr>
          <p:cNvPr id="8" name="TextBox 7">
            <a:extLst>
              <a:ext uri="{FF2B5EF4-FFF2-40B4-BE49-F238E27FC236}">
                <a16:creationId xmlns:a16="http://schemas.microsoft.com/office/drawing/2014/main" id="{19131068-80AF-61BA-8548-2A5DC992388D}"/>
              </a:ext>
            </a:extLst>
          </p:cNvPr>
          <p:cNvSpPr txBox="1"/>
          <p:nvPr/>
        </p:nvSpPr>
        <p:spPr>
          <a:xfrm>
            <a:off x="2256639" y="4982646"/>
            <a:ext cx="1124219" cy="584775"/>
          </a:xfrm>
          <a:prstGeom prst="rect">
            <a:avLst/>
          </a:prstGeom>
          <a:noFill/>
        </p:spPr>
        <p:txBody>
          <a:bodyPr wrap="none" rtlCol="0">
            <a:spAutoFit/>
          </a:bodyPr>
          <a:lstStyle/>
          <a:p>
            <a:r>
              <a:rPr lang="sr-Latn-RS" sz="3200" b="1" dirty="0"/>
              <a:t>Skup</a:t>
            </a:r>
            <a:endParaRPr lang="en-US" sz="3200" b="1" dirty="0"/>
          </a:p>
        </p:txBody>
      </p:sp>
      <p:sp>
        <p:nvSpPr>
          <p:cNvPr id="9" name="TextBox 8">
            <a:extLst>
              <a:ext uri="{FF2B5EF4-FFF2-40B4-BE49-F238E27FC236}">
                <a16:creationId xmlns:a16="http://schemas.microsoft.com/office/drawing/2014/main" id="{97585BAC-0DF6-9575-1E85-465A2942401E}"/>
              </a:ext>
            </a:extLst>
          </p:cNvPr>
          <p:cNvSpPr txBox="1"/>
          <p:nvPr/>
        </p:nvSpPr>
        <p:spPr>
          <a:xfrm>
            <a:off x="8349318" y="4930860"/>
            <a:ext cx="923651" cy="584775"/>
          </a:xfrm>
          <a:prstGeom prst="rect">
            <a:avLst/>
          </a:prstGeom>
          <a:noFill/>
        </p:spPr>
        <p:txBody>
          <a:bodyPr wrap="none" rtlCol="0">
            <a:spAutoFit/>
          </a:bodyPr>
          <a:lstStyle/>
          <a:p>
            <a:r>
              <a:rPr lang="sr-Latn-RS" sz="3200" b="1" dirty="0"/>
              <a:t>Heš</a:t>
            </a:r>
            <a:endParaRPr lang="en-US" sz="3200" b="1" dirty="0"/>
          </a:p>
        </p:txBody>
      </p:sp>
    </p:spTree>
    <p:extLst>
      <p:ext uri="{BB962C8B-B14F-4D97-AF65-F5344CB8AC3E}">
        <p14:creationId xmlns:p14="http://schemas.microsoft.com/office/powerpoint/2010/main" val="1931738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ECC01-079E-9EBC-98F7-C2F418FCEB78}"/>
              </a:ext>
            </a:extLst>
          </p:cNvPr>
          <p:cNvSpPr>
            <a:spLocks noGrp="1"/>
          </p:cNvSpPr>
          <p:nvPr>
            <p:ph type="title"/>
          </p:nvPr>
        </p:nvSpPr>
        <p:spPr>
          <a:xfrm>
            <a:off x="287775" y="87211"/>
            <a:ext cx="7388152" cy="1325563"/>
          </a:xfrm>
        </p:spPr>
        <p:txBody>
          <a:bodyPr/>
          <a:lstStyle/>
          <a:p>
            <a:r>
              <a:rPr lang="sr-Latn-RS" dirty="0"/>
              <a:t>Perzistencija kod Redisa</a:t>
            </a:r>
            <a:endParaRPr lang="en-US" dirty="0"/>
          </a:p>
        </p:txBody>
      </p:sp>
      <p:sp>
        <p:nvSpPr>
          <p:cNvPr id="3" name="Content Placeholder 2">
            <a:extLst>
              <a:ext uri="{FF2B5EF4-FFF2-40B4-BE49-F238E27FC236}">
                <a16:creationId xmlns:a16="http://schemas.microsoft.com/office/drawing/2014/main" id="{5305D865-91A7-C354-C214-9A1BB8728230}"/>
              </a:ext>
            </a:extLst>
          </p:cNvPr>
          <p:cNvSpPr>
            <a:spLocks noGrp="1"/>
          </p:cNvSpPr>
          <p:nvPr>
            <p:ph idx="1"/>
          </p:nvPr>
        </p:nvSpPr>
        <p:spPr>
          <a:xfrm>
            <a:off x="287776" y="1551963"/>
            <a:ext cx="7388152" cy="4625000"/>
          </a:xfrm>
        </p:spPr>
        <p:txBody>
          <a:bodyPr>
            <a:normAutofit fontScale="92500" lnSpcReduction="20000"/>
          </a:bodyPr>
          <a:lstStyle/>
          <a:p>
            <a:r>
              <a:rPr lang="sr-Latn-RS" dirty="0"/>
              <a:t>Za razliku od drugih in memory baza, Redis ima potpuno opcioni  sistem perzistencije na disk. On se sastoji iz dva principa:</a:t>
            </a:r>
          </a:p>
          <a:p>
            <a:pPr lvl="1"/>
            <a:r>
              <a:rPr lang="sr-Latn-RS" dirty="0"/>
              <a:t>RDB (snapshotting)</a:t>
            </a:r>
          </a:p>
          <a:p>
            <a:pPr lvl="1"/>
            <a:r>
              <a:rPr lang="sr-Latn-RS" dirty="0"/>
              <a:t>AOF (Append only file)</a:t>
            </a:r>
          </a:p>
          <a:p>
            <a:pPr lvl="1"/>
            <a:r>
              <a:rPr lang="sr-Latn-RS" dirty="0"/>
              <a:t>Hibridni pristup</a:t>
            </a:r>
          </a:p>
          <a:p>
            <a:r>
              <a:rPr lang="sr-Latn-RS" dirty="0"/>
              <a:t>RDB (Redis Database) je veoma kompaktan fajl koji predstavlja stanje podataka u jednom trenutku. Ovi fajlovi su odlični za pravljenje bekapa čije stvaranje se može podesiti. Na primer RDB fajl se može čuvati na svakih sat vremena za poslednja 24 sata, kao i jedan dnevni snimak tokom 30 dana. Ukoliko dođe do nekog problema sa podacima, bekap omogućava povratak na ranije stabilno stanje.</a:t>
            </a:r>
          </a:p>
          <a:p>
            <a:endParaRPr lang="sr-Latn-RS" dirty="0"/>
          </a:p>
          <a:p>
            <a:endParaRPr lang="en-US" dirty="0"/>
          </a:p>
        </p:txBody>
      </p:sp>
      <p:pic>
        <p:nvPicPr>
          <p:cNvPr id="5" name="Picture 4">
            <a:extLst>
              <a:ext uri="{FF2B5EF4-FFF2-40B4-BE49-F238E27FC236}">
                <a16:creationId xmlns:a16="http://schemas.microsoft.com/office/drawing/2014/main" id="{ACCBB4AD-1F12-EAFC-A30C-EEFF25336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4310" y="749993"/>
            <a:ext cx="4099915" cy="4435224"/>
          </a:xfrm>
          <a:prstGeom prst="rect">
            <a:avLst/>
          </a:prstGeom>
        </p:spPr>
      </p:pic>
    </p:spTree>
    <p:extLst>
      <p:ext uri="{BB962C8B-B14F-4D97-AF65-F5344CB8AC3E}">
        <p14:creationId xmlns:p14="http://schemas.microsoft.com/office/powerpoint/2010/main" val="40004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859-6D93-A4FF-3648-427B55F3F3E6}"/>
              </a:ext>
            </a:extLst>
          </p:cNvPr>
          <p:cNvSpPr>
            <a:spLocks noGrp="1"/>
          </p:cNvSpPr>
          <p:nvPr>
            <p:ph type="title"/>
          </p:nvPr>
        </p:nvSpPr>
        <p:spPr/>
        <p:txBody>
          <a:bodyPr/>
          <a:lstStyle/>
          <a:p>
            <a:r>
              <a:rPr lang="sr-Latn-RS" dirty="0"/>
              <a:t>RDB - nastavak</a:t>
            </a:r>
            <a:endParaRPr lang="en-US" dirty="0"/>
          </a:p>
        </p:txBody>
      </p:sp>
      <p:sp>
        <p:nvSpPr>
          <p:cNvPr id="3" name="Content Placeholder 2">
            <a:extLst>
              <a:ext uri="{FF2B5EF4-FFF2-40B4-BE49-F238E27FC236}">
                <a16:creationId xmlns:a16="http://schemas.microsoft.com/office/drawing/2014/main" id="{E3A9365C-21A2-CC11-DA9A-2BD0E28FBF2F}"/>
              </a:ext>
            </a:extLst>
          </p:cNvPr>
          <p:cNvSpPr>
            <a:spLocks noGrp="1"/>
          </p:cNvSpPr>
          <p:nvPr>
            <p:ph idx="1"/>
          </p:nvPr>
        </p:nvSpPr>
        <p:spPr/>
        <p:txBody>
          <a:bodyPr>
            <a:normAutofit lnSpcReduction="10000"/>
          </a:bodyPr>
          <a:lstStyle/>
          <a:p>
            <a:r>
              <a:rPr lang="sr-Latn-RS" dirty="0"/>
              <a:t>Snapshot-ovi se podrazumevano čuvaju u binarnom fajlu po imenu dump.rdb. Postoje različiti vidovi konfiguracije, od kojih je jedan na primer upis promena u datasetu svakih N sekundi ukoliko je došlo do M promena, ili se mogu ručno pozvati komande SAVE ili BGSAVE.</a:t>
            </a:r>
          </a:p>
          <a:p>
            <a:r>
              <a:rPr lang="sr-Latn-RS" dirty="0"/>
              <a:t>Neki osnovni tok izvršavanja jednog snapshot-a je sledeći:</a:t>
            </a:r>
            <a:endParaRPr lang="en-US" dirty="0"/>
          </a:p>
          <a:p>
            <a:pPr lvl="1"/>
            <a:r>
              <a:rPr lang="sr-Latn-RS" dirty="0"/>
              <a:t>Redis izvrši fork() i napravi dečiji proces.</a:t>
            </a:r>
            <a:endParaRPr lang="en-US" dirty="0"/>
          </a:p>
          <a:p>
            <a:pPr lvl="1"/>
            <a:r>
              <a:rPr lang="sr-Latn-RS" dirty="0"/>
              <a:t>Dete upisuje dataset u privremeni RDB fajl.</a:t>
            </a:r>
            <a:endParaRPr lang="en-US" dirty="0"/>
          </a:p>
          <a:p>
            <a:pPr lvl="1"/>
            <a:r>
              <a:rPr lang="sr-Latn-RS" dirty="0"/>
              <a:t>Kada dete okonča upis, zameni originalni RDB sa svojim.</a:t>
            </a:r>
            <a:endParaRPr lang="en-US" dirty="0"/>
          </a:p>
          <a:p>
            <a:pPr lvl="1"/>
            <a:r>
              <a:rPr lang="sr-Latn-RS" dirty="0"/>
              <a:t>Prilikom konfiguracije se učestalost snapshot-a može podesiti na 1 sat, na 6 sati i na 12 sati.</a:t>
            </a:r>
          </a:p>
          <a:p>
            <a:endParaRPr lang="en-US" dirty="0"/>
          </a:p>
        </p:txBody>
      </p:sp>
    </p:spTree>
    <p:extLst>
      <p:ext uri="{BB962C8B-B14F-4D97-AF65-F5344CB8AC3E}">
        <p14:creationId xmlns:p14="http://schemas.microsoft.com/office/powerpoint/2010/main" val="3802024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79CF-BEF5-724E-53B8-B72F3404E3C3}"/>
              </a:ext>
            </a:extLst>
          </p:cNvPr>
          <p:cNvSpPr>
            <a:spLocks noGrp="1"/>
          </p:cNvSpPr>
          <p:nvPr>
            <p:ph type="title"/>
          </p:nvPr>
        </p:nvSpPr>
        <p:spPr/>
        <p:txBody>
          <a:bodyPr/>
          <a:lstStyle/>
          <a:p>
            <a:r>
              <a:rPr lang="sr-Latn-RS" dirty="0"/>
              <a:t>RDB - prednosti</a:t>
            </a:r>
            <a:endParaRPr lang="en-US" dirty="0"/>
          </a:p>
        </p:txBody>
      </p:sp>
      <p:sp>
        <p:nvSpPr>
          <p:cNvPr id="3" name="Content Placeholder 2">
            <a:extLst>
              <a:ext uri="{FF2B5EF4-FFF2-40B4-BE49-F238E27FC236}">
                <a16:creationId xmlns:a16="http://schemas.microsoft.com/office/drawing/2014/main" id="{85E5B1BD-F597-EAE9-B215-6C722D22A6E8}"/>
              </a:ext>
            </a:extLst>
          </p:cNvPr>
          <p:cNvSpPr>
            <a:spLocks noGrp="1"/>
          </p:cNvSpPr>
          <p:nvPr>
            <p:ph idx="1"/>
          </p:nvPr>
        </p:nvSpPr>
        <p:spPr/>
        <p:txBody>
          <a:bodyPr>
            <a:normAutofit lnSpcReduction="10000"/>
          </a:bodyPr>
          <a:lstStyle/>
          <a:p>
            <a:r>
              <a:rPr lang="sr-Latn-RS" dirty="0"/>
              <a:t>Prednost korišćenja RDB-a je što je  je jako koristan za oporavak jer je sve spakovano u jedan mali fajl koji se može prebaciti na neki drugi server, koji potencijalno može biti i na cloud-u, gde se podaci rekonstruišu.</a:t>
            </a:r>
          </a:p>
          <a:p>
            <a:r>
              <a:rPr lang="sr-Latn-RS" dirty="0"/>
              <a:t>RDB takođe čuva performanse Redis-a, jer glavni proces praktično ne radi težak posao, već samo fork-uje pomoćni proces koji odradi snimanje podataka.</a:t>
            </a:r>
          </a:p>
          <a:p>
            <a:r>
              <a:rPr lang="sr-Latn-RS" dirty="0"/>
              <a:t>Glavni proces ne mora da se bavi upisom na disk ili sličnim stvarima. Još jedna prednost je što se Redis brže pokreće sa velikim količinama podataka kada koristi RDB u poređenju sa AOF-om</a:t>
            </a:r>
            <a:endParaRPr lang="en-US" dirty="0"/>
          </a:p>
        </p:txBody>
      </p:sp>
    </p:spTree>
    <p:extLst>
      <p:ext uri="{BB962C8B-B14F-4D97-AF65-F5344CB8AC3E}">
        <p14:creationId xmlns:p14="http://schemas.microsoft.com/office/powerpoint/2010/main" val="2081081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3822A-6031-0C9C-3325-9FF810C44A2D}"/>
              </a:ext>
            </a:extLst>
          </p:cNvPr>
          <p:cNvSpPr>
            <a:spLocks noGrp="1"/>
          </p:cNvSpPr>
          <p:nvPr>
            <p:ph type="title"/>
          </p:nvPr>
        </p:nvSpPr>
        <p:spPr>
          <a:xfrm>
            <a:off x="838200" y="365125"/>
            <a:ext cx="3423407" cy="1325563"/>
          </a:xfrm>
        </p:spPr>
        <p:txBody>
          <a:bodyPr/>
          <a:lstStyle/>
          <a:p>
            <a:r>
              <a:rPr lang="sr-Latn-RS" dirty="0"/>
              <a:t>RDB - Mane</a:t>
            </a:r>
            <a:endParaRPr lang="en-US" dirty="0"/>
          </a:p>
        </p:txBody>
      </p:sp>
      <p:pic>
        <p:nvPicPr>
          <p:cNvPr id="5" name="Content Placeholder 4">
            <a:extLst>
              <a:ext uri="{FF2B5EF4-FFF2-40B4-BE49-F238E27FC236}">
                <a16:creationId xmlns:a16="http://schemas.microsoft.com/office/drawing/2014/main" id="{F5BFC777-74A7-E049-44AC-00C3B7C25B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92704" y="874565"/>
            <a:ext cx="4030211" cy="5453400"/>
          </a:xfrm>
          <a:prstGeom prst="rect">
            <a:avLst/>
          </a:prstGeom>
        </p:spPr>
      </p:pic>
      <p:sp>
        <p:nvSpPr>
          <p:cNvPr id="6" name="TextBox 5">
            <a:extLst>
              <a:ext uri="{FF2B5EF4-FFF2-40B4-BE49-F238E27FC236}">
                <a16:creationId xmlns:a16="http://schemas.microsoft.com/office/drawing/2014/main" id="{03AE5511-EC24-7A36-3726-983D1B65C0C5}"/>
              </a:ext>
            </a:extLst>
          </p:cNvPr>
          <p:cNvSpPr txBox="1"/>
          <p:nvPr/>
        </p:nvSpPr>
        <p:spPr>
          <a:xfrm>
            <a:off x="469085" y="1862327"/>
            <a:ext cx="6975511" cy="3477875"/>
          </a:xfrm>
          <a:prstGeom prst="rect">
            <a:avLst/>
          </a:prstGeom>
          <a:noFill/>
        </p:spPr>
        <p:txBody>
          <a:bodyPr wrap="square" rtlCol="0">
            <a:spAutoFit/>
          </a:bodyPr>
          <a:lstStyle/>
          <a:p>
            <a:pPr marL="285750" indent="-285750">
              <a:buFont typeface="Arial" panose="020B0604020202020204" pitchFamily="34" charset="0"/>
              <a:buChar char="•"/>
            </a:pPr>
            <a:r>
              <a:rPr lang="sr-Latn-RS" sz="2000" dirty="0"/>
              <a:t>Nije dobar ukoliko se treba sprečiti gubitak podataka u slučaju prekida rada Redisa, na primer prilikom gubitka struje. Dok se RDB snapshot može podesiti na svakih nekoliko intervala, problem može nastati ako Redis obustavi rad u periodu između ta dva vremenska intervala, pa se može desiti gubitak podataka koji su tada nastali.</a:t>
            </a:r>
          </a:p>
          <a:p>
            <a:pPr marL="285750" indent="-285750">
              <a:buFont typeface="Arial" panose="020B0604020202020204" pitchFamily="34" charset="0"/>
              <a:buChar char="•"/>
            </a:pPr>
            <a:r>
              <a:rPr lang="sr-Latn-RS" sz="2000" dirty="0"/>
              <a:t>Druga mana je upotreba fork-a kako bi se napravio proces. Ukoliko je količina podataka velika, a procesor nema preteranih performansi, fork može uzeti puno vremena, a čak i sam Redis može da odloži ili prekine isporuku podataka klijentima.</a:t>
            </a:r>
            <a:endParaRPr lang="en-US" sz="2000" dirty="0"/>
          </a:p>
        </p:txBody>
      </p:sp>
    </p:spTree>
    <p:extLst>
      <p:ext uri="{BB962C8B-B14F-4D97-AF65-F5344CB8AC3E}">
        <p14:creationId xmlns:p14="http://schemas.microsoft.com/office/powerpoint/2010/main" val="2699517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B602-E2DB-E2F6-761D-B0938630FBE2}"/>
              </a:ext>
            </a:extLst>
          </p:cNvPr>
          <p:cNvSpPr>
            <a:spLocks noGrp="1"/>
          </p:cNvSpPr>
          <p:nvPr>
            <p:ph type="title"/>
          </p:nvPr>
        </p:nvSpPr>
        <p:spPr/>
        <p:txBody>
          <a:bodyPr/>
          <a:lstStyle/>
          <a:p>
            <a:r>
              <a:rPr lang="sr-Latn-RS" dirty="0"/>
              <a:t>AOF perzistencija</a:t>
            </a:r>
            <a:endParaRPr lang="en-US" dirty="0"/>
          </a:p>
        </p:txBody>
      </p:sp>
      <p:sp>
        <p:nvSpPr>
          <p:cNvPr id="3" name="Content Placeholder 2">
            <a:extLst>
              <a:ext uri="{FF2B5EF4-FFF2-40B4-BE49-F238E27FC236}">
                <a16:creationId xmlns:a16="http://schemas.microsoft.com/office/drawing/2014/main" id="{8A4302DE-1AAE-771C-AE19-CCE654E1916A}"/>
              </a:ext>
            </a:extLst>
          </p:cNvPr>
          <p:cNvSpPr>
            <a:spLocks noGrp="1"/>
          </p:cNvSpPr>
          <p:nvPr>
            <p:ph idx="1"/>
          </p:nvPr>
        </p:nvSpPr>
        <p:spPr>
          <a:xfrm>
            <a:off x="838200" y="1442906"/>
            <a:ext cx="10515600" cy="4734057"/>
          </a:xfrm>
        </p:spPr>
        <p:txBody>
          <a:bodyPr>
            <a:normAutofit fontScale="92500" lnSpcReduction="20000"/>
          </a:bodyPr>
          <a:lstStyle/>
          <a:p>
            <a:r>
              <a:rPr lang="sr-Latn-RS" dirty="0"/>
              <a:t>AOF je skraćenica od Append Only File, i on beleži svaki upis koji server primi. Ideja iza ovoga je da, kad se server pokrene, taj niz operacija se izvrši nad podacima i rekonstruiše stabilno stanje. Logovi se beleže u istom formatu kao Redis komande. Redis omogućava 3 režima konfiguracije AOF-a:</a:t>
            </a:r>
            <a:endParaRPr lang="en-US" dirty="0"/>
          </a:p>
          <a:p>
            <a:pPr lvl="1"/>
            <a:r>
              <a:rPr lang="sr-Latn-RS" dirty="0"/>
              <a:t>Fsync() na svaki upis</a:t>
            </a:r>
            <a:endParaRPr lang="en-US" dirty="0"/>
          </a:p>
          <a:p>
            <a:pPr lvl="1"/>
            <a:r>
              <a:rPr lang="sr-Latn-RS" dirty="0"/>
              <a:t>Fsync() na svaku sekundu</a:t>
            </a:r>
            <a:endParaRPr lang="en-US" dirty="0"/>
          </a:p>
          <a:p>
            <a:pPr lvl="1"/>
            <a:r>
              <a:rPr lang="sr-Latn-RS" dirty="0"/>
              <a:t>Gašenje upisa u potpunosti</a:t>
            </a:r>
          </a:p>
          <a:p>
            <a:r>
              <a:rPr lang="sr-Latn-RS" dirty="0"/>
              <a:t>Fsync() je sistemski poziv koji sinhronizuje podatke od fajl bafera  u disk. Izbor nekog od ovih režima zavisi od toga koliko se toleriše gubitak podataka. Ako gubitak podataka ima ogromnu cenu, onda se koristi režim koji radi na svaki upis, inače se koristi onaj koji ide na svaku sekundu. Po prirodi stvari režim upisa od jedne sekunde traje između jedne i dve sekunde, i to je podrazumevani način rada Redisa kod upotrebe AOF-a.</a:t>
            </a:r>
          </a:p>
        </p:txBody>
      </p:sp>
    </p:spTree>
    <p:extLst>
      <p:ext uri="{BB962C8B-B14F-4D97-AF65-F5344CB8AC3E}">
        <p14:creationId xmlns:p14="http://schemas.microsoft.com/office/powerpoint/2010/main" val="3590764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C5258-D75B-C837-53D3-DBC2CDF00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2FB0B-2A96-9E22-D7B3-B85DABB51F43}"/>
              </a:ext>
            </a:extLst>
          </p:cNvPr>
          <p:cNvSpPr>
            <a:spLocks noGrp="1"/>
          </p:cNvSpPr>
          <p:nvPr>
            <p:ph type="title"/>
          </p:nvPr>
        </p:nvSpPr>
        <p:spPr/>
        <p:txBody>
          <a:bodyPr/>
          <a:lstStyle/>
          <a:p>
            <a:r>
              <a:rPr lang="sr-Latn-RS" dirty="0"/>
              <a:t>AOF perzistencija 2</a:t>
            </a:r>
            <a:endParaRPr lang="en-US" dirty="0"/>
          </a:p>
        </p:txBody>
      </p:sp>
      <p:sp>
        <p:nvSpPr>
          <p:cNvPr id="3" name="Content Placeholder 2">
            <a:extLst>
              <a:ext uri="{FF2B5EF4-FFF2-40B4-BE49-F238E27FC236}">
                <a16:creationId xmlns:a16="http://schemas.microsoft.com/office/drawing/2014/main" id="{A9E89980-9311-CFC0-6100-9ACB4AA510A4}"/>
              </a:ext>
            </a:extLst>
          </p:cNvPr>
          <p:cNvSpPr>
            <a:spLocks noGrp="1"/>
          </p:cNvSpPr>
          <p:nvPr>
            <p:ph idx="1"/>
          </p:nvPr>
        </p:nvSpPr>
        <p:spPr>
          <a:xfrm>
            <a:off x="838200" y="1690688"/>
            <a:ext cx="10515600" cy="4734057"/>
          </a:xfrm>
        </p:spPr>
        <p:txBody>
          <a:bodyPr>
            <a:normAutofit lnSpcReduction="10000"/>
          </a:bodyPr>
          <a:lstStyle/>
          <a:p>
            <a:r>
              <a:rPr lang="sr-Latn-RS" dirty="0"/>
              <a:t>Kako se izvršavaju operacije upisa, AOF fajl se vremenom uvećava i to potencijalno može stvoriti problem. Primera radi, postoji neki brojač koji se povećao 100 puta. U samom skupu podataka postojaće samo jedna konačna vrednost, dok će AOF sadržati svih 100 pojedinačnih operacija. Od svih tih zapisa, samo je jedan, i to poslednji, potreban za rekonstrukciju stanja.</a:t>
            </a:r>
            <a:endParaRPr lang="en-US" dirty="0"/>
          </a:p>
          <a:p>
            <a:r>
              <a:rPr lang="sr-Latn-RS" dirty="0"/>
              <a:t>Zbog toga Redis koristi mehanizam smanjivanja AOF fajla (rewrite), koji je u potpunosti bezbedan. Dok sistem nastavlja da upisuje nove promene u postojeći fajl, paralelno se u pozadini kreira novi fajl sa minimalnim skupom operacija potrebnih da se dobije trenutno stanje podataka. Kada se taj proces završi, Redis jednostavno zamenjuje stari fajl novim i nastavlja rad bez prekida.</a:t>
            </a:r>
            <a:endParaRPr lang="en-US" dirty="0"/>
          </a:p>
        </p:txBody>
      </p:sp>
    </p:spTree>
    <p:extLst>
      <p:ext uri="{BB962C8B-B14F-4D97-AF65-F5344CB8AC3E}">
        <p14:creationId xmlns:p14="http://schemas.microsoft.com/office/powerpoint/2010/main" val="4037980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54E841CD-BF13-59E3-71A3-B101EB2A7A50}"/>
              </a:ext>
            </a:extLst>
          </p:cNvPr>
          <p:cNvGraphicFramePr>
            <a:graphicFrameLocks noGrp="1"/>
          </p:cNvGraphicFramePr>
          <p:nvPr>
            <p:extLst>
              <p:ext uri="{D42A27DB-BD31-4B8C-83A1-F6EECF244321}">
                <p14:modId xmlns:p14="http://schemas.microsoft.com/office/powerpoint/2010/main" val="2379792690"/>
              </p:ext>
            </p:extLst>
          </p:nvPr>
        </p:nvGraphicFramePr>
        <p:xfrm>
          <a:off x="643467" y="699034"/>
          <a:ext cx="10905067" cy="5459934"/>
        </p:xfrm>
        <a:graphic>
          <a:graphicData uri="http://schemas.openxmlformats.org/drawingml/2006/table">
            <a:tbl>
              <a:tblPr firstRow="1" firstCol="1" bandRow="1">
                <a:tableStyleId>{5C22544A-7EE6-4342-B048-85BDC9FD1C3A}</a:tableStyleId>
              </a:tblPr>
              <a:tblGrid>
                <a:gridCol w="5450586">
                  <a:extLst>
                    <a:ext uri="{9D8B030D-6E8A-4147-A177-3AD203B41FA5}">
                      <a16:colId xmlns:a16="http://schemas.microsoft.com/office/drawing/2014/main" val="2315822476"/>
                    </a:ext>
                  </a:extLst>
                </a:gridCol>
                <a:gridCol w="5454481">
                  <a:extLst>
                    <a:ext uri="{9D8B030D-6E8A-4147-A177-3AD203B41FA5}">
                      <a16:colId xmlns:a16="http://schemas.microsoft.com/office/drawing/2014/main" val="1765520027"/>
                    </a:ext>
                  </a:extLst>
                </a:gridCol>
              </a:tblGrid>
              <a:tr h="576058">
                <a:tc>
                  <a:txBody>
                    <a:bodyPr/>
                    <a:lstStyle/>
                    <a:p>
                      <a:pPr marL="0" marR="0">
                        <a:lnSpc>
                          <a:spcPct val="115000"/>
                        </a:lnSpc>
                        <a:spcAft>
                          <a:spcPts val="800"/>
                        </a:spcAft>
                        <a:buNone/>
                      </a:pPr>
                      <a:r>
                        <a:rPr lang="sr-Latn-RS" sz="2900" kern="100" dirty="0">
                          <a:effectLst/>
                        </a:rPr>
                        <a:t>RDB (Snapshotting)</a:t>
                      </a:r>
                      <a:endParaRPr lang="en-US" sz="2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tc>
                  <a:txBody>
                    <a:bodyPr/>
                    <a:lstStyle/>
                    <a:p>
                      <a:pPr marL="0" marR="0">
                        <a:lnSpc>
                          <a:spcPct val="115000"/>
                        </a:lnSpc>
                        <a:spcAft>
                          <a:spcPts val="800"/>
                        </a:spcAft>
                        <a:buNone/>
                      </a:pPr>
                      <a:r>
                        <a:rPr lang="sr-Latn-RS" sz="2900" kern="100">
                          <a:effectLst/>
                        </a:rPr>
                        <a:t>AOF</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extLst>
                  <a:ext uri="{0D108BD9-81ED-4DB2-BD59-A6C34878D82A}">
                    <a16:rowId xmlns:a16="http://schemas.microsoft.com/office/drawing/2014/main" val="3328059774"/>
                  </a:ext>
                </a:extLst>
              </a:tr>
              <a:tr h="576058">
                <a:tc>
                  <a:txBody>
                    <a:bodyPr/>
                    <a:lstStyle/>
                    <a:p>
                      <a:pPr marL="0" marR="0">
                        <a:lnSpc>
                          <a:spcPct val="115000"/>
                        </a:lnSpc>
                        <a:spcAft>
                          <a:spcPts val="800"/>
                        </a:spcAft>
                        <a:buNone/>
                      </a:pPr>
                      <a:r>
                        <a:rPr lang="sr-Latn-RS" sz="2900" kern="100">
                          <a:effectLst/>
                        </a:rPr>
                        <a:t>Koristi manje resursa pri radu</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tc>
                  <a:txBody>
                    <a:bodyPr/>
                    <a:lstStyle/>
                    <a:p>
                      <a:pPr marL="0" marR="0">
                        <a:lnSpc>
                          <a:spcPct val="115000"/>
                        </a:lnSpc>
                        <a:spcAft>
                          <a:spcPts val="800"/>
                        </a:spcAft>
                        <a:buNone/>
                      </a:pPr>
                      <a:r>
                        <a:rPr lang="sr-Latn-RS" sz="2900" kern="100">
                          <a:effectLst/>
                        </a:rPr>
                        <a:t>Koristi više resursa pri radu</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extLst>
                  <a:ext uri="{0D108BD9-81ED-4DB2-BD59-A6C34878D82A}">
                    <a16:rowId xmlns:a16="http://schemas.microsoft.com/office/drawing/2014/main" val="638844113"/>
                  </a:ext>
                </a:extLst>
              </a:tr>
              <a:tr h="1091987">
                <a:tc>
                  <a:txBody>
                    <a:bodyPr/>
                    <a:lstStyle/>
                    <a:p>
                      <a:pPr marL="0" marR="0">
                        <a:lnSpc>
                          <a:spcPct val="115000"/>
                        </a:lnSpc>
                        <a:spcAft>
                          <a:spcPts val="800"/>
                        </a:spcAft>
                        <a:buNone/>
                      </a:pPr>
                      <a:r>
                        <a:rPr lang="sr-Latn-RS" sz="2900" kern="100">
                          <a:effectLst/>
                        </a:rPr>
                        <a:t>Manje otporna na prekide u radu</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tc>
                  <a:txBody>
                    <a:bodyPr/>
                    <a:lstStyle/>
                    <a:p>
                      <a:pPr marL="0" marR="0">
                        <a:lnSpc>
                          <a:spcPct val="115000"/>
                        </a:lnSpc>
                        <a:spcAft>
                          <a:spcPts val="800"/>
                        </a:spcAft>
                        <a:buNone/>
                      </a:pPr>
                      <a:r>
                        <a:rPr lang="sr-Latn-RS" sz="2900" kern="100">
                          <a:effectLst/>
                        </a:rPr>
                        <a:t>Više otporna na prekide</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extLst>
                  <a:ext uri="{0D108BD9-81ED-4DB2-BD59-A6C34878D82A}">
                    <a16:rowId xmlns:a16="http://schemas.microsoft.com/office/drawing/2014/main" val="2189862190"/>
                  </a:ext>
                </a:extLst>
              </a:tr>
              <a:tr h="1091987">
                <a:tc>
                  <a:txBody>
                    <a:bodyPr/>
                    <a:lstStyle/>
                    <a:p>
                      <a:pPr marL="0" marR="0">
                        <a:lnSpc>
                          <a:spcPct val="115000"/>
                        </a:lnSpc>
                        <a:spcAft>
                          <a:spcPts val="800"/>
                        </a:spcAft>
                        <a:buNone/>
                      </a:pPr>
                      <a:r>
                        <a:rPr lang="sr-Latn-RS" sz="2900" kern="100">
                          <a:effectLst/>
                        </a:rPr>
                        <a:t>Brži proces oporavka</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tc>
                  <a:txBody>
                    <a:bodyPr/>
                    <a:lstStyle/>
                    <a:p>
                      <a:pPr marL="0" marR="0">
                        <a:lnSpc>
                          <a:spcPct val="115000"/>
                        </a:lnSpc>
                        <a:spcAft>
                          <a:spcPts val="800"/>
                        </a:spcAft>
                        <a:buNone/>
                      </a:pPr>
                      <a:r>
                        <a:rPr lang="sr-Latn-RS" sz="2900" kern="100">
                          <a:effectLst/>
                        </a:rPr>
                        <a:t>Sporije vreme oporavka zbog većih fajlova</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extLst>
                  <a:ext uri="{0D108BD9-81ED-4DB2-BD59-A6C34878D82A}">
                    <a16:rowId xmlns:a16="http://schemas.microsoft.com/office/drawing/2014/main" val="4264969261"/>
                  </a:ext>
                </a:extLst>
              </a:tr>
              <a:tr h="2123844">
                <a:tc>
                  <a:txBody>
                    <a:bodyPr/>
                    <a:lstStyle/>
                    <a:p>
                      <a:pPr marL="0" marR="0">
                        <a:lnSpc>
                          <a:spcPct val="115000"/>
                        </a:lnSpc>
                        <a:spcAft>
                          <a:spcPts val="800"/>
                        </a:spcAft>
                        <a:buNone/>
                      </a:pPr>
                      <a:r>
                        <a:rPr lang="sr-Latn-RS" sz="2900" kern="100">
                          <a:effectLst/>
                        </a:rPr>
                        <a:t>Zahteva manje resursa jer nema kompakcije, a I/O operacije se izvršavaju jednom na par sati.</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tc>
                  <a:txBody>
                    <a:bodyPr/>
                    <a:lstStyle/>
                    <a:p>
                      <a:pPr marL="0" marR="0">
                        <a:lnSpc>
                          <a:spcPct val="115000"/>
                        </a:lnSpc>
                        <a:spcAft>
                          <a:spcPts val="800"/>
                        </a:spcAft>
                        <a:buNone/>
                      </a:pPr>
                      <a:r>
                        <a:rPr lang="sr-Latn-RS" sz="2900" kern="100">
                          <a:effectLst/>
                        </a:rPr>
                        <a:t>Zahteva više resursa, odnosno prostora na disku, jer fajlovi mogu dosta narasti i trebaju se kompaktovati.</a:t>
                      </a:r>
                      <a:endParaRPr lang="en-US" sz="2900" kern="100">
                        <a:effectLst/>
                        <a:latin typeface="Aptos" panose="020B0004020202020204" pitchFamily="34" charset="0"/>
                        <a:ea typeface="Aptos" panose="020B0004020202020204" pitchFamily="34" charset="0"/>
                        <a:cs typeface="Times New Roman" panose="02020603050405020304" pitchFamily="18" charset="0"/>
                      </a:endParaRPr>
                    </a:p>
                  </a:txBody>
                  <a:tcPr marL="168238" marR="168238" marT="0" marB="0"/>
                </a:tc>
                <a:extLst>
                  <a:ext uri="{0D108BD9-81ED-4DB2-BD59-A6C34878D82A}">
                    <a16:rowId xmlns:a16="http://schemas.microsoft.com/office/drawing/2014/main" val="2147240538"/>
                  </a:ext>
                </a:extLst>
              </a:tr>
            </a:tbl>
          </a:graphicData>
        </a:graphic>
      </p:graphicFrame>
    </p:spTree>
    <p:extLst>
      <p:ext uri="{BB962C8B-B14F-4D97-AF65-F5344CB8AC3E}">
        <p14:creationId xmlns:p14="http://schemas.microsoft.com/office/powerpoint/2010/main" val="2532749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3DBAC-B354-4C31-03BE-3245D48FB613}"/>
              </a:ext>
            </a:extLst>
          </p:cNvPr>
          <p:cNvSpPr>
            <a:spLocks noGrp="1"/>
          </p:cNvSpPr>
          <p:nvPr>
            <p:ph type="title"/>
          </p:nvPr>
        </p:nvSpPr>
        <p:spPr/>
        <p:txBody>
          <a:bodyPr/>
          <a:lstStyle/>
          <a:p>
            <a:r>
              <a:rPr lang="sr-Latn-RS"/>
              <a:t>MongoDB</a:t>
            </a:r>
            <a:endParaRPr lang="en-US"/>
          </a:p>
        </p:txBody>
      </p:sp>
      <p:sp>
        <p:nvSpPr>
          <p:cNvPr id="3" name="Content Placeholder 2">
            <a:extLst>
              <a:ext uri="{FF2B5EF4-FFF2-40B4-BE49-F238E27FC236}">
                <a16:creationId xmlns:a16="http://schemas.microsoft.com/office/drawing/2014/main" id="{401D1182-BD9D-D869-BB0D-CFFED25F35C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54804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1104</Words>
  <Application>Microsoft Office PowerPoint</Application>
  <PresentationFormat>Widescreen</PresentationFormat>
  <Paragraphs>62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On memory i disk baze podazaka, Redis i MongoDB</vt:lpstr>
      <vt:lpstr>In memory baze podataka</vt:lpstr>
      <vt:lpstr>Redis</vt:lpstr>
      <vt:lpstr>Šta to Redis radi drugačije?</vt:lpstr>
      <vt:lpstr>Neki tipovi podataka</vt:lpstr>
      <vt:lpstr>Perzistencija kod Redisa</vt:lpstr>
      <vt:lpstr>RDB - nastavak</vt:lpstr>
      <vt:lpstr>RDB - prednosti</vt:lpstr>
      <vt:lpstr>RDB - Mane</vt:lpstr>
      <vt:lpstr>AOF perzistencija</vt:lpstr>
      <vt:lpstr>AOF perzistencija 2</vt:lpstr>
      <vt:lpstr>PowerPoint Presentation</vt:lpstr>
      <vt:lpstr>MongoDB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RadiÅ¡a MarkoviÄ‡</dc:creator>
  <cp:lastModifiedBy>RadiÅ¡a MarkoviÄ‡</cp:lastModifiedBy>
  <cp:revision>71</cp:revision>
  <dcterms:created xsi:type="dcterms:W3CDTF">2026-05-12T08:48:14Z</dcterms:created>
  <dcterms:modified xsi:type="dcterms:W3CDTF">2026-05-12T10:19:45Z</dcterms:modified>
</cp:coreProperties>
</file>